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0C68912A-F3F9-4B6E-B50F-B94E35CC449C}">
          <p14:sldIdLst>
            <p14:sldId id="256"/>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594F51-37BF-45FB-A24F-8E629610D356}" type="datetimeFigureOut">
              <a:rPr lang="en-IN" smtClean="0"/>
              <a:t>12-08-2026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4A216D-CA19-4E08-A2C5-4CBBC820B9B9}" type="slidenum">
              <a:rPr lang="en-IN" smtClean="0"/>
              <a:t>‹#›</a:t>
            </a:fld>
            <a:endParaRPr lang="en-IN"/>
          </a:p>
        </p:txBody>
      </p:sp>
    </p:spTree>
    <p:extLst>
      <p:ext uri="{BB962C8B-B14F-4D97-AF65-F5344CB8AC3E}">
        <p14:creationId xmlns:p14="http://schemas.microsoft.com/office/powerpoint/2010/main" val="407554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4A216D-CA19-4E08-A2C5-4CBBC820B9B9}" type="slidenum">
              <a:rPr lang="en-IN" smtClean="0"/>
              <a:t>3</a:t>
            </a:fld>
            <a:endParaRPr lang="en-IN"/>
          </a:p>
        </p:txBody>
      </p:sp>
    </p:spTree>
    <p:extLst>
      <p:ext uri="{BB962C8B-B14F-4D97-AF65-F5344CB8AC3E}">
        <p14:creationId xmlns:p14="http://schemas.microsoft.com/office/powerpoint/2010/main" val="2438351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Journal Entry Table</a:t>
            </a:r>
          </a:p>
        </p:txBody>
      </p:sp>
      <p:sp>
        <p:nvSpPr>
          <p:cNvPr id="4" name="Slide Number Placeholder 3"/>
          <p:cNvSpPr>
            <a:spLocks noGrp="1"/>
          </p:cNvSpPr>
          <p:nvPr>
            <p:ph type="sldNum" sz="quarter" idx="5"/>
          </p:nvPr>
        </p:nvSpPr>
        <p:spPr/>
        <p:txBody>
          <a:bodyPr/>
          <a:lstStyle/>
          <a:p>
            <a:fld id="{FD4A216D-CA19-4E08-A2C5-4CBBC820B9B9}" type="slidenum">
              <a:rPr lang="en-IN" smtClean="0"/>
              <a:t>7</a:t>
            </a:fld>
            <a:endParaRPr lang="en-IN"/>
          </a:p>
        </p:txBody>
      </p:sp>
    </p:spTree>
    <p:extLst>
      <p:ext uri="{BB962C8B-B14F-4D97-AF65-F5344CB8AC3E}">
        <p14:creationId xmlns:p14="http://schemas.microsoft.com/office/powerpoint/2010/main" val="2974045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F88FB-B2FF-3695-C2AE-E04C0292B0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034ACED-C4E2-5652-FDF8-5077CBEDEB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69E5BA-B804-C817-E81F-F5BF9FB78203}"/>
              </a:ext>
            </a:extLst>
          </p:cNvPr>
          <p:cNvSpPr>
            <a:spLocks noGrp="1"/>
          </p:cNvSpPr>
          <p:nvPr>
            <p:ph type="dt" sz="half" idx="10"/>
          </p:nvPr>
        </p:nvSpPr>
        <p:spPr/>
        <p:txBody>
          <a:bodyPr/>
          <a:lstStyle/>
          <a:p>
            <a:fld id="{8FAC1D25-0E04-4F83-A3E9-AEC19F08F23D}" type="datetimeFigureOut">
              <a:rPr lang="en-IN" smtClean="0"/>
              <a:t>12-08-2026</a:t>
            </a:fld>
            <a:endParaRPr lang="en-IN"/>
          </a:p>
        </p:txBody>
      </p:sp>
      <p:sp>
        <p:nvSpPr>
          <p:cNvPr id="5" name="Footer Placeholder 4">
            <a:extLst>
              <a:ext uri="{FF2B5EF4-FFF2-40B4-BE49-F238E27FC236}">
                <a16:creationId xmlns:a16="http://schemas.microsoft.com/office/drawing/2014/main" id="{5BBB8810-A2AD-8CF1-F0F3-F4DFD2328B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C38DA9-CA2F-93FA-F67B-E4E1E87628E9}"/>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2850932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B3F17-D744-F8B0-8670-D262795B9A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650697-80B3-3F6D-DA10-157DCB429F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EAB4D3-2333-D21D-3F0E-2F18D12042E3}"/>
              </a:ext>
            </a:extLst>
          </p:cNvPr>
          <p:cNvSpPr>
            <a:spLocks noGrp="1"/>
          </p:cNvSpPr>
          <p:nvPr>
            <p:ph type="dt" sz="half" idx="10"/>
          </p:nvPr>
        </p:nvSpPr>
        <p:spPr/>
        <p:txBody>
          <a:bodyPr/>
          <a:lstStyle/>
          <a:p>
            <a:fld id="{8FAC1D25-0E04-4F83-A3E9-AEC19F08F23D}" type="datetimeFigureOut">
              <a:rPr lang="en-IN" smtClean="0"/>
              <a:t>12-08-2026</a:t>
            </a:fld>
            <a:endParaRPr lang="en-IN"/>
          </a:p>
        </p:txBody>
      </p:sp>
      <p:sp>
        <p:nvSpPr>
          <p:cNvPr id="5" name="Footer Placeholder 4">
            <a:extLst>
              <a:ext uri="{FF2B5EF4-FFF2-40B4-BE49-F238E27FC236}">
                <a16:creationId xmlns:a16="http://schemas.microsoft.com/office/drawing/2014/main" id="{40400B7D-1FD4-F3DC-235F-0139972C53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C19467-FD4E-AA1E-F08C-97DD2805EA04}"/>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730188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4A3B1-FA08-651E-B89D-8EAAC12181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4F5FF1-E358-6B09-EA54-32E47685C3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BB3F1E-7974-C5B4-A4F3-053836602B72}"/>
              </a:ext>
            </a:extLst>
          </p:cNvPr>
          <p:cNvSpPr>
            <a:spLocks noGrp="1"/>
          </p:cNvSpPr>
          <p:nvPr>
            <p:ph type="dt" sz="half" idx="10"/>
          </p:nvPr>
        </p:nvSpPr>
        <p:spPr/>
        <p:txBody>
          <a:bodyPr/>
          <a:lstStyle/>
          <a:p>
            <a:fld id="{8FAC1D25-0E04-4F83-A3E9-AEC19F08F23D}" type="datetimeFigureOut">
              <a:rPr lang="en-IN" smtClean="0"/>
              <a:t>12-08-2026</a:t>
            </a:fld>
            <a:endParaRPr lang="en-IN"/>
          </a:p>
        </p:txBody>
      </p:sp>
      <p:sp>
        <p:nvSpPr>
          <p:cNvPr id="5" name="Footer Placeholder 4">
            <a:extLst>
              <a:ext uri="{FF2B5EF4-FFF2-40B4-BE49-F238E27FC236}">
                <a16:creationId xmlns:a16="http://schemas.microsoft.com/office/drawing/2014/main" id="{EED785FB-A6D5-419A-3291-C3C59AB033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FDAB6C-79A7-25C4-15B0-A5C0638075F0}"/>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3044248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9C819-2232-68B8-7F2A-1C984900EA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CDE2A9-97ED-744E-0D76-3880F3E1B7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313DD7-AF72-07A0-C05C-A3CC5600B4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C53D38E-A4D3-BB8B-B417-2FBF00ED0F1E}"/>
              </a:ext>
            </a:extLst>
          </p:cNvPr>
          <p:cNvSpPr>
            <a:spLocks noGrp="1"/>
          </p:cNvSpPr>
          <p:nvPr>
            <p:ph type="dt" sz="half" idx="10"/>
          </p:nvPr>
        </p:nvSpPr>
        <p:spPr/>
        <p:txBody>
          <a:bodyPr/>
          <a:lstStyle/>
          <a:p>
            <a:fld id="{8FAC1D25-0E04-4F83-A3E9-AEC19F08F23D}" type="datetimeFigureOut">
              <a:rPr lang="en-IN" smtClean="0"/>
              <a:t>12-08-2026</a:t>
            </a:fld>
            <a:endParaRPr lang="en-IN"/>
          </a:p>
        </p:txBody>
      </p:sp>
      <p:sp>
        <p:nvSpPr>
          <p:cNvPr id="6" name="Footer Placeholder 5">
            <a:extLst>
              <a:ext uri="{FF2B5EF4-FFF2-40B4-BE49-F238E27FC236}">
                <a16:creationId xmlns:a16="http://schemas.microsoft.com/office/drawing/2014/main" id="{BF8EED29-47AB-65E0-6BA9-0D58699BE7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9DD4FD-731A-7EC0-513D-EA156C1772BE}"/>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2252391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BB873-6E6F-3FDB-01DC-2BB653A6B8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6CDC65-762E-3C5E-4849-A26E500915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4DED3D-AF30-64B8-A39D-6A0F099EA6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561930F-0AE2-AE51-D876-B252E8CF71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8A8364-3277-EDF7-00C9-193B8F4D73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9FCC565-1DA5-55DE-BA0C-BF85BAB8CD22}"/>
              </a:ext>
            </a:extLst>
          </p:cNvPr>
          <p:cNvSpPr>
            <a:spLocks noGrp="1"/>
          </p:cNvSpPr>
          <p:nvPr>
            <p:ph type="dt" sz="half" idx="10"/>
          </p:nvPr>
        </p:nvSpPr>
        <p:spPr/>
        <p:txBody>
          <a:bodyPr/>
          <a:lstStyle/>
          <a:p>
            <a:fld id="{8FAC1D25-0E04-4F83-A3E9-AEC19F08F23D}" type="datetimeFigureOut">
              <a:rPr lang="en-IN" smtClean="0"/>
              <a:t>12-08-2026</a:t>
            </a:fld>
            <a:endParaRPr lang="en-IN"/>
          </a:p>
        </p:txBody>
      </p:sp>
      <p:sp>
        <p:nvSpPr>
          <p:cNvPr id="8" name="Footer Placeholder 7">
            <a:extLst>
              <a:ext uri="{FF2B5EF4-FFF2-40B4-BE49-F238E27FC236}">
                <a16:creationId xmlns:a16="http://schemas.microsoft.com/office/drawing/2014/main" id="{EB1A8DCF-D19E-83C0-1998-4E527165D0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9702437-FA5A-4D40-7616-8AD0C65D408C}"/>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2857055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6BE0E-448C-D69F-9585-FD7236A51B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5F11A90-0879-454A-8B21-62A53484FFD3}"/>
              </a:ext>
            </a:extLst>
          </p:cNvPr>
          <p:cNvSpPr>
            <a:spLocks noGrp="1"/>
          </p:cNvSpPr>
          <p:nvPr>
            <p:ph type="dt" sz="half" idx="10"/>
          </p:nvPr>
        </p:nvSpPr>
        <p:spPr/>
        <p:txBody>
          <a:bodyPr/>
          <a:lstStyle/>
          <a:p>
            <a:fld id="{8FAC1D25-0E04-4F83-A3E9-AEC19F08F23D}" type="datetimeFigureOut">
              <a:rPr lang="en-IN" smtClean="0"/>
              <a:t>12-08-2026</a:t>
            </a:fld>
            <a:endParaRPr lang="en-IN"/>
          </a:p>
        </p:txBody>
      </p:sp>
      <p:sp>
        <p:nvSpPr>
          <p:cNvPr id="4" name="Footer Placeholder 3">
            <a:extLst>
              <a:ext uri="{FF2B5EF4-FFF2-40B4-BE49-F238E27FC236}">
                <a16:creationId xmlns:a16="http://schemas.microsoft.com/office/drawing/2014/main" id="{8A9A858B-811D-07B9-27AF-FF5B25A6A39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CF250B8-B557-C79C-15EC-FC002A411619}"/>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257869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5D66D1-1DAD-24AF-4F5A-0718E44B76A9}"/>
              </a:ext>
            </a:extLst>
          </p:cNvPr>
          <p:cNvSpPr>
            <a:spLocks noGrp="1"/>
          </p:cNvSpPr>
          <p:nvPr>
            <p:ph type="dt" sz="half" idx="10"/>
          </p:nvPr>
        </p:nvSpPr>
        <p:spPr/>
        <p:txBody>
          <a:bodyPr/>
          <a:lstStyle/>
          <a:p>
            <a:fld id="{8FAC1D25-0E04-4F83-A3E9-AEC19F08F23D}" type="datetimeFigureOut">
              <a:rPr lang="en-IN" smtClean="0"/>
              <a:t>12-08-2026</a:t>
            </a:fld>
            <a:endParaRPr lang="en-IN"/>
          </a:p>
        </p:txBody>
      </p:sp>
      <p:sp>
        <p:nvSpPr>
          <p:cNvPr id="3" name="Footer Placeholder 2">
            <a:extLst>
              <a:ext uri="{FF2B5EF4-FFF2-40B4-BE49-F238E27FC236}">
                <a16:creationId xmlns:a16="http://schemas.microsoft.com/office/drawing/2014/main" id="{435C24A8-A17D-6EC7-65EB-BA75AA40D8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49CFA97-E962-1747-53F3-851343C741BA}"/>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1444972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9922-A69E-DD06-1AAF-FFB03B032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F4043B-A08B-FE16-B47B-093157DC6B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D44DF23-3349-BD9B-8F8D-182CEB94C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A32457-128D-5320-EE12-52D0AF12341A}"/>
              </a:ext>
            </a:extLst>
          </p:cNvPr>
          <p:cNvSpPr>
            <a:spLocks noGrp="1"/>
          </p:cNvSpPr>
          <p:nvPr>
            <p:ph type="dt" sz="half" idx="10"/>
          </p:nvPr>
        </p:nvSpPr>
        <p:spPr/>
        <p:txBody>
          <a:bodyPr/>
          <a:lstStyle/>
          <a:p>
            <a:fld id="{8FAC1D25-0E04-4F83-A3E9-AEC19F08F23D}" type="datetimeFigureOut">
              <a:rPr lang="en-IN" smtClean="0"/>
              <a:t>12-08-2026</a:t>
            </a:fld>
            <a:endParaRPr lang="en-IN"/>
          </a:p>
        </p:txBody>
      </p:sp>
      <p:sp>
        <p:nvSpPr>
          <p:cNvPr id="6" name="Footer Placeholder 5">
            <a:extLst>
              <a:ext uri="{FF2B5EF4-FFF2-40B4-BE49-F238E27FC236}">
                <a16:creationId xmlns:a16="http://schemas.microsoft.com/office/drawing/2014/main" id="{5B2F720B-1DC3-2610-1E0A-778F793465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9108B8-7D25-FFEF-7B58-9D69C0E5DE03}"/>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172200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DE46-DCD7-A42E-1745-064121F87D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36C5E11-E987-06FF-83EC-EC76A25D71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3FDCA5-7238-CEBF-786E-0C99ECC49E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15484E-E54A-7E8C-14B7-AA6B762B0A5D}"/>
              </a:ext>
            </a:extLst>
          </p:cNvPr>
          <p:cNvSpPr>
            <a:spLocks noGrp="1"/>
          </p:cNvSpPr>
          <p:nvPr>
            <p:ph type="dt" sz="half" idx="10"/>
          </p:nvPr>
        </p:nvSpPr>
        <p:spPr/>
        <p:txBody>
          <a:bodyPr/>
          <a:lstStyle/>
          <a:p>
            <a:fld id="{8FAC1D25-0E04-4F83-A3E9-AEC19F08F23D}" type="datetimeFigureOut">
              <a:rPr lang="en-IN" smtClean="0"/>
              <a:t>12-08-2026</a:t>
            </a:fld>
            <a:endParaRPr lang="en-IN"/>
          </a:p>
        </p:txBody>
      </p:sp>
      <p:sp>
        <p:nvSpPr>
          <p:cNvPr id="6" name="Footer Placeholder 5">
            <a:extLst>
              <a:ext uri="{FF2B5EF4-FFF2-40B4-BE49-F238E27FC236}">
                <a16:creationId xmlns:a16="http://schemas.microsoft.com/office/drawing/2014/main" id="{A1C2985B-86AC-45D5-E053-9D572AA2A0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9685A3-0661-90E3-18C7-837366AD97BD}"/>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1252130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6A56B-BDE7-2DA0-623F-E5A2345FDC2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AB12E5-3E10-DD60-29C5-08A25662EF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EB5655-4C94-6A48-8CEF-77CA2FA7E95E}"/>
              </a:ext>
            </a:extLst>
          </p:cNvPr>
          <p:cNvSpPr>
            <a:spLocks noGrp="1"/>
          </p:cNvSpPr>
          <p:nvPr>
            <p:ph type="dt" sz="half" idx="10"/>
          </p:nvPr>
        </p:nvSpPr>
        <p:spPr/>
        <p:txBody>
          <a:bodyPr/>
          <a:lstStyle/>
          <a:p>
            <a:fld id="{8FAC1D25-0E04-4F83-A3E9-AEC19F08F23D}" type="datetimeFigureOut">
              <a:rPr lang="en-IN" smtClean="0"/>
              <a:t>12-08-2026</a:t>
            </a:fld>
            <a:endParaRPr lang="en-IN"/>
          </a:p>
        </p:txBody>
      </p:sp>
      <p:sp>
        <p:nvSpPr>
          <p:cNvPr id="5" name="Footer Placeholder 4">
            <a:extLst>
              <a:ext uri="{FF2B5EF4-FFF2-40B4-BE49-F238E27FC236}">
                <a16:creationId xmlns:a16="http://schemas.microsoft.com/office/drawing/2014/main" id="{51AC6FD6-0366-622A-8CF1-A01385DEA9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17595A-197C-00D5-469A-24D58EC4495D}"/>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3698596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18909E-84FA-D25C-0264-2D048F1EF1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4011A8-1FF9-345A-5254-2457EFABEC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B15E12-B796-D388-7C49-60F8E166B46F}"/>
              </a:ext>
            </a:extLst>
          </p:cNvPr>
          <p:cNvSpPr>
            <a:spLocks noGrp="1"/>
          </p:cNvSpPr>
          <p:nvPr>
            <p:ph type="dt" sz="half" idx="10"/>
          </p:nvPr>
        </p:nvSpPr>
        <p:spPr/>
        <p:txBody>
          <a:bodyPr/>
          <a:lstStyle/>
          <a:p>
            <a:fld id="{8FAC1D25-0E04-4F83-A3E9-AEC19F08F23D}" type="datetimeFigureOut">
              <a:rPr lang="en-IN" smtClean="0"/>
              <a:t>12-08-2026</a:t>
            </a:fld>
            <a:endParaRPr lang="en-IN"/>
          </a:p>
        </p:txBody>
      </p:sp>
      <p:sp>
        <p:nvSpPr>
          <p:cNvPr id="5" name="Footer Placeholder 4">
            <a:extLst>
              <a:ext uri="{FF2B5EF4-FFF2-40B4-BE49-F238E27FC236}">
                <a16:creationId xmlns:a16="http://schemas.microsoft.com/office/drawing/2014/main" id="{32CCBE12-7C8D-7AA7-0F81-CB3F1A3652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5679D0-69FA-FA71-01BB-E749E529C4CE}"/>
              </a:ext>
            </a:extLst>
          </p:cNvPr>
          <p:cNvSpPr>
            <a:spLocks noGrp="1"/>
          </p:cNvSpPr>
          <p:nvPr>
            <p:ph type="sldNum" sz="quarter" idx="12"/>
          </p:nvPr>
        </p:nvSpPr>
        <p:spPr/>
        <p:txBody>
          <a:bodyPr/>
          <a:lstStyle/>
          <a:p>
            <a:fld id="{286D18D7-CC7B-4FD2-BD77-5FF16EEF1A66}" type="slidenum">
              <a:rPr lang="en-IN" smtClean="0"/>
              <a:t>‹#›</a:t>
            </a:fld>
            <a:endParaRPr lang="en-IN"/>
          </a:p>
        </p:txBody>
      </p:sp>
    </p:spTree>
    <p:extLst>
      <p:ext uri="{BB962C8B-B14F-4D97-AF65-F5344CB8AC3E}">
        <p14:creationId xmlns:p14="http://schemas.microsoft.com/office/powerpoint/2010/main" val="3997534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4BA296-E4F1-675A-4C13-EA7C3597CE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52D4BB-AB1C-22A0-B540-2D446BB313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841F4C-DD30-1D60-E1F8-49BFD0DD4C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AC1D25-0E04-4F83-A3E9-AEC19F08F23D}" type="datetimeFigureOut">
              <a:rPr lang="en-IN" smtClean="0"/>
              <a:t>12-08-2026</a:t>
            </a:fld>
            <a:endParaRPr lang="en-IN"/>
          </a:p>
        </p:txBody>
      </p:sp>
      <p:sp>
        <p:nvSpPr>
          <p:cNvPr id="5" name="Footer Placeholder 4">
            <a:extLst>
              <a:ext uri="{FF2B5EF4-FFF2-40B4-BE49-F238E27FC236}">
                <a16:creationId xmlns:a16="http://schemas.microsoft.com/office/drawing/2014/main" id="{C1D7DC8B-849C-9CE4-6133-E2855E1363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2D0AC95-F523-5101-7381-C695F661B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6D18D7-CC7B-4FD2-BD77-5FF16EEF1A66}" type="slidenum">
              <a:rPr lang="en-IN" smtClean="0"/>
              <a:t>‹#›</a:t>
            </a:fld>
            <a:endParaRPr lang="en-IN"/>
          </a:p>
        </p:txBody>
      </p:sp>
    </p:spTree>
    <p:extLst>
      <p:ext uri="{BB962C8B-B14F-4D97-AF65-F5344CB8AC3E}">
        <p14:creationId xmlns:p14="http://schemas.microsoft.com/office/powerpoint/2010/main" val="213298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F50C2-5DE8-C68D-D8BB-01948DB77857}"/>
              </a:ext>
            </a:extLst>
          </p:cNvPr>
          <p:cNvSpPr>
            <a:spLocks noGrp="1"/>
          </p:cNvSpPr>
          <p:nvPr>
            <p:ph type="ctrTitle"/>
          </p:nvPr>
        </p:nvSpPr>
        <p:spPr>
          <a:xfrm>
            <a:off x="-58993" y="1274507"/>
            <a:ext cx="6518786" cy="2981632"/>
          </a:xfrm>
        </p:spPr>
        <p:txBody>
          <a:bodyPr>
            <a:normAutofit/>
          </a:bodyPr>
          <a:lstStyle/>
          <a:p>
            <a:r>
              <a:rPr lang="en-IN" sz="2800" dirty="0">
                <a:latin typeface="Sitka Heading Semibold" pitchFamily="2" charset="0"/>
              </a:rPr>
              <a:t>Personal Journal Analytics Web Application</a:t>
            </a:r>
            <a:br>
              <a:rPr lang="en-IN" sz="2800" dirty="0">
                <a:latin typeface="Sitka Heading Semibold" pitchFamily="2" charset="0"/>
              </a:rPr>
            </a:br>
            <a:br>
              <a:rPr lang="en-IN" sz="2800" dirty="0">
                <a:latin typeface="Sitka Heading Semibold" pitchFamily="2" charset="0"/>
              </a:rPr>
            </a:br>
            <a:r>
              <a:rPr lang="en-US" sz="2800" dirty="0">
                <a:latin typeface="Gabriola" panose="04040605051002020D02" pitchFamily="82" charset="0"/>
              </a:rPr>
              <a:t>Your stories, your moods, your insights—all in one place.</a:t>
            </a:r>
            <a:br>
              <a:rPr lang="en-IN" sz="2800" dirty="0">
                <a:latin typeface="Sitka Heading Semibold" pitchFamily="2" charset="0"/>
              </a:rPr>
            </a:br>
            <a:endParaRPr lang="en-IN" sz="2800" dirty="0">
              <a:latin typeface="Sitka Heading Semibold" pitchFamily="2" charset="0"/>
            </a:endParaRPr>
          </a:p>
        </p:txBody>
      </p:sp>
      <p:sp>
        <p:nvSpPr>
          <p:cNvPr id="3" name="Subtitle 2">
            <a:extLst>
              <a:ext uri="{FF2B5EF4-FFF2-40B4-BE49-F238E27FC236}">
                <a16:creationId xmlns:a16="http://schemas.microsoft.com/office/drawing/2014/main" id="{9075D77F-B914-EF89-B08B-D8E2F3FA56B0}"/>
              </a:ext>
            </a:extLst>
          </p:cNvPr>
          <p:cNvSpPr>
            <a:spLocks noGrp="1"/>
          </p:cNvSpPr>
          <p:nvPr>
            <p:ph type="subTitle" idx="1"/>
          </p:nvPr>
        </p:nvSpPr>
        <p:spPr>
          <a:xfrm>
            <a:off x="9684774" y="6015037"/>
            <a:ext cx="2084439" cy="560286"/>
          </a:xfrm>
        </p:spPr>
        <p:txBody>
          <a:bodyPr>
            <a:normAutofit/>
          </a:bodyPr>
          <a:lstStyle/>
          <a:p>
            <a:r>
              <a:rPr lang="en-US" sz="2000" dirty="0" err="1">
                <a:latin typeface="Centaur" panose="02030504050205020304" pitchFamily="18" charset="0"/>
              </a:rPr>
              <a:t>Cheyyeti</a:t>
            </a:r>
            <a:r>
              <a:rPr lang="en-US" sz="2000" dirty="0">
                <a:latin typeface="Centaur" panose="02030504050205020304" pitchFamily="18" charset="0"/>
              </a:rPr>
              <a:t> Hasini</a:t>
            </a:r>
            <a:endParaRPr lang="en-IN" sz="2000" dirty="0">
              <a:latin typeface="Centaur" panose="02030504050205020304" pitchFamily="18" charset="0"/>
            </a:endParaRPr>
          </a:p>
        </p:txBody>
      </p:sp>
      <p:pic>
        <p:nvPicPr>
          <p:cNvPr id="5" name="Picture 4">
            <a:extLst>
              <a:ext uri="{FF2B5EF4-FFF2-40B4-BE49-F238E27FC236}">
                <a16:creationId xmlns:a16="http://schemas.microsoft.com/office/drawing/2014/main" id="{BC524352-5095-E1C0-E780-A0E72C5209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9793" y="1553497"/>
            <a:ext cx="5309420" cy="3539613"/>
          </a:xfrm>
          <a:prstGeom prst="rect">
            <a:avLst/>
          </a:prstGeom>
        </p:spPr>
      </p:pic>
    </p:spTree>
    <p:extLst>
      <p:ext uri="{BB962C8B-B14F-4D97-AF65-F5344CB8AC3E}">
        <p14:creationId xmlns:p14="http://schemas.microsoft.com/office/powerpoint/2010/main" val="2866575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42B24-5548-AD5C-93EC-C5B815EC5514}"/>
              </a:ext>
            </a:extLst>
          </p:cNvPr>
          <p:cNvSpPr>
            <a:spLocks noGrp="1"/>
          </p:cNvSpPr>
          <p:nvPr>
            <p:ph type="title"/>
          </p:nvPr>
        </p:nvSpPr>
        <p:spPr>
          <a:xfrm>
            <a:off x="838200" y="365125"/>
            <a:ext cx="10515600" cy="549275"/>
          </a:xfrm>
        </p:spPr>
        <p:txBody>
          <a:bodyPr>
            <a:normAutofit/>
          </a:bodyPr>
          <a:lstStyle/>
          <a:p>
            <a:pPr algn="ctr"/>
            <a:r>
              <a:rPr lang="en-IN" sz="2800" dirty="0">
                <a:latin typeface="Sitka Heading Semibold" pitchFamily="2" charset="0"/>
              </a:rPr>
              <a:t>Project Overview</a:t>
            </a:r>
          </a:p>
        </p:txBody>
      </p:sp>
      <p:sp>
        <p:nvSpPr>
          <p:cNvPr id="3" name="Content Placeholder 2">
            <a:extLst>
              <a:ext uri="{FF2B5EF4-FFF2-40B4-BE49-F238E27FC236}">
                <a16:creationId xmlns:a16="http://schemas.microsoft.com/office/drawing/2014/main" id="{BD91409E-7165-F4EF-BBF3-F0B116269BBB}"/>
              </a:ext>
            </a:extLst>
          </p:cNvPr>
          <p:cNvSpPr>
            <a:spLocks noGrp="1"/>
          </p:cNvSpPr>
          <p:nvPr>
            <p:ph idx="1"/>
          </p:nvPr>
        </p:nvSpPr>
        <p:spPr>
          <a:xfrm>
            <a:off x="619432" y="1071716"/>
            <a:ext cx="7452852" cy="5105247"/>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The Personal Journal Analytics Web Application is a secure web application that enables users to record daily journal entries, manage them efficiently, and gain meaningful insights through mood analytics. It combines journal management with interactive visualizations to support self-reflection and emotional tracking.</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Key Features :-</a:t>
            </a:r>
          </a:p>
          <a:p>
            <a:pPr marL="0" indent="0">
              <a:buNone/>
            </a:pPr>
            <a:r>
              <a:rPr lang="en-US" sz="1800" dirty="0">
                <a:latin typeface="Times New Roman" panose="02020603050405020304" pitchFamily="18" charset="0"/>
                <a:cs typeface="Times New Roman" panose="02020603050405020304" pitchFamily="18" charset="0"/>
              </a:rPr>
              <a:t>✔️ Secure User Authentication</a:t>
            </a:r>
          </a:p>
          <a:p>
            <a:pPr marL="0" indent="0">
              <a:buNone/>
            </a:pPr>
            <a:r>
              <a:rPr lang="en-US" sz="1800" dirty="0">
                <a:latin typeface="Times New Roman" panose="02020603050405020304" pitchFamily="18" charset="0"/>
                <a:cs typeface="Times New Roman" panose="02020603050405020304" pitchFamily="18" charset="0"/>
              </a:rPr>
              <a:t>✔️ Journal Management (CRUD)</a:t>
            </a:r>
          </a:p>
          <a:p>
            <a:pPr marL="0" indent="0">
              <a:buNone/>
            </a:pPr>
            <a:r>
              <a:rPr lang="en-US" sz="1800" dirty="0">
                <a:latin typeface="Times New Roman" panose="02020603050405020304" pitchFamily="18" charset="0"/>
                <a:cs typeface="Times New Roman" panose="02020603050405020304" pitchFamily="18" charset="0"/>
              </a:rPr>
              <a:t>✔️ Mood Tracking</a:t>
            </a:r>
          </a:p>
          <a:p>
            <a:pPr marL="0" indent="0">
              <a:buNone/>
            </a:pPr>
            <a:r>
              <a:rPr lang="en-US" sz="1800" dirty="0">
                <a:latin typeface="Times New Roman" panose="02020603050405020304" pitchFamily="18" charset="0"/>
                <a:cs typeface="Times New Roman" panose="02020603050405020304" pitchFamily="18" charset="0"/>
              </a:rPr>
              <a:t>✔️ Interactive Analytics Dashboard</a:t>
            </a:r>
          </a:p>
          <a:p>
            <a:pPr marL="0" indent="0">
              <a:buNone/>
            </a:pPr>
            <a:r>
              <a:rPr lang="en-US" sz="1800" dirty="0">
                <a:latin typeface="Times New Roman" panose="02020603050405020304" pitchFamily="18" charset="0"/>
                <a:cs typeface="Times New Roman" panose="02020603050405020304" pitchFamily="18" charset="0"/>
              </a:rPr>
              <a:t>✔️ MySQL Database Integration</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6AC195D-AC7A-A652-A2C9-C0DFF51AE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6268" y="796413"/>
            <a:ext cx="3197532" cy="5481484"/>
          </a:xfrm>
          <a:prstGeom prst="rect">
            <a:avLst/>
          </a:prstGeom>
        </p:spPr>
      </p:pic>
    </p:spTree>
    <p:extLst>
      <p:ext uri="{BB962C8B-B14F-4D97-AF65-F5344CB8AC3E}">
        <p14:creationId xmlns:p14="http://schemas.microsoft.com/office/powerpoint/2010/main" val="3487212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23B6F-D7D1-3D58-5B77-0ADFD719D62B}"/>
              </a:ext>
            </a:extLst>
          </p:cNvPr>
          <p:cNvSpPr>
            <a:spLocks noGrp="1"/>
          </p:cNvSpPr>
          <p:nvPr>
            <p:ph type="title"/>
          </p:nvPr>
        </p:nvSpPr>
        <p:spPr>
          <a:xfrm>
            <a:off x="759542" y="0"/>
            <a:ext cx="10515600" cy="804914"/>
          </a:xfrm>
        </p:spPr>
        <p:txBody>
          <a:bodyPr>
            <a:normAutofit/>
          </a:bodyPr>
          <a:lstStyle/>
          <a:p>
            <a:pPr algn="ctr"/>
            <a:r>
              <a:rPr lang="en-IN" sz="2800" dirty="0">
                <a:latin typeface="Sitka Heading Semibold" pitchFamily="2" charset="0"/>
              </a:rPr>
              <a:t>Authentication Module</a:t>
            </a:r>
          </a:p>
        </p:txBody>
      </p:sp>
      <p:sp>
        <p:nvSpPr>
          <p:cNvPr id="3" name="Content Placeholder 2">
            <a:extLst>
              <a:ext uri="{FF2B5EF4-FFF2-40B4-BE49-F238E27FC236}">
                <a16:creationId xmlns:a16="http://schemas.microsoft.com/office/drawing/2014/main" id="{B45A8C94-1F35-9196-8B48-D7385F7E7977}"/>
              </a:ext>
            </a:extLst>
          </p:cNvPr>
          <p:cNvSpPr>
            <a:spLocks noGrp="1"/>
          </p:cNvSpPr>
          <p:nvPr>
            <p:ph idx="1"/>
          </p:nvPr>
        </p:nvSpPr>
        <p:spPr>
          <a:xfrm>
            <a:off x="5427401" y="3823323"/>
            <a:ext cx="2792371" cy="1955705"/>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Features</a:t>
            </a:r>
          </a:p>
          <a:p>
            <a:pPr marL="0" indent="0">
              <a:buNone/>
            </a:pPr>
            <a:r>
              <a:rPr lang="en-US" sz="1600" dirty="0">
                <a:latin typeface="Times New Roman" panose="02020603050405020304" pitchFamily="18" charset="0"/>
                <a:cs typeface="Times New Roman" panose="02020603050405020304" pitchFamily="18" charset="0"/>
              </a:rPr>
              <a:t>Secure user registration</a:t>
            </a:r>
          </a:p>
          <a:p>
            <a:pPr marL="0" indent="0">
              <a:buNone/>
            </a:pPr>
            <a:r>
              <a:rPr lang="en-US" sz="1600" dirty="0">
                <a:latin typeface="Times New Roman" panose="02020603050405020304" pitchFamily="18" charset="0"/>
                <a:cs typeface="Times New Roman" panose="02020603050405020304" pitchFamily="18" charset="0"/>
              </a:rPr>
              <a:t>User login authentication</a:t>
            </a:r>
          </a:p>
          <a:p>
            <a:pPr marL="0" indent="0">
              <a:buNone/>
            </a:pPr>
            <a:r>
              <a:rPr lang="en-US" sz="1600" dirty="0">
                <a:latin typeface="Times New Roman" panose="02020603050405020304" pitchFamily="18" charset="0"/>
                <a:cs typeface="Times New Roman" panose="02020603050405020304" pitchFamily="18" charset="0"/>
              </a:rPr>
              <a:t>Session-based access control</a:t>
            </a:r>
          </a:p>
          <a:p>
            <a:pPr marL="0" indent="0">
              <a:buNone/>
            </a:pPr>
            <a:r>
              <a:rPr lang="en-US" sz="1600" dirty="0">
                <a:latin typeface="Times New Roman" panose="02020603050405020304" pitchFamily="18" charset="0"/>
                <a:cs typeface="Times New Roman" panose="02020603050405020304" pitchFamily="18" charset="0"/>
              </a:rPr>
              <a:t>Password validation</a:t>
            </a:r>
            <a:endParaRPr lang="en-IN" sz="16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8F9FD6BB-DABA-5CB7-31B1-D9D125D31A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8494" y="804914"/>
            <a:ext cx="3962396" cy="3293938"/>
          </a:xfrm>
          <a:prstGeom prst="rect">
            <a:avLst/>
          </a:prstGeom>
        </p:spPr>
      </p:pic>
      <p:pic>
        <p:nvPicPr>
          <p:cNvPr id="15" name="Picture 14">
            <a:extLst>
              <a:ext uri="{FF2B5EF4-FFF2-40B4-BE49-F238E27FC236}">
                <a16:creationId xmlns:a16="http://schemas.microsoft.com/office/drawing/2014/main" id="{0AFAAE48-3190-4C30-E556-2F6CF4BCEB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988" y="804914"/>
            <a:ext cx="4482135" cy="3164560"/>
          </a:xfrm>
          <a:prstGeom prst="rect">
            <a:avLst/>
          </a:prstGeom>
        </p:spPr>
      </p:pic>
      <p:sp>
        <p:nvSpPr>
          <p:cNvPr id="17" name="TextBox 16">
            <a:extLst>
              <a:ext uri="{FF2B5EF4-FFF2-40B4-BE49-F238E27FC236}">
                <a16:creationId xmlns:a16="http://schemas.microsoft.com/office/drawing/2014/main" id="{DCFC51F9-0A44-936C-9C4B-9D1ED8689051}"/>
              </a:ext>
            </a:extLst>
          </p:cNvPr>
          <p:cNvSpPr txBox="1"/>
          <p:nvPr/>
        </p:nvSpPr>
        <p:spPr>
          <a:xfrm>
            <a:off x="2939845" y="5986599"/>
            <a:ext cx="7293075" cy="461665"/>
          </a:xfrm>
          <a:prstGeom prst="rect">
            <a:avLst/>
          </a:prstGeom>
          <a:noFill/>
        </p:spPr>
        <p:txBody>
          <a:bodyPr wrap="square">
            <a:spAutoFit/>
          </a:bodyPr>
          <a:lstStyle/>
          <a:p>
            <a:r>
              <a:rPr lang="en-US" sz="2400" dirty="0">
                <a:latin typeface="Gabriola" panose="04040605051002020D02" pitchFamily="82" charset="0"/>
              </a:rPr>
              <a:t>Secure access is the first step toward protecting personal memories</a:t>
            </a:r>
            <a:endParaRPr lang="en-IN" sz="2400" dirty="0">
              <a:latin typeface="Gabriola" panose="04040605051002020D02" pitchFamily="82" charset="0"/>
            </a:endParaRPr>
          </a:p>
        </p:txBody>
      </p:sp>
    </p:spTree>
    <p:extLst>
      <p:ext uri="{BB962C8B-B14F-4D97-AF65-F5344CB8AC3E}">
        <p14:creationId xmlns:p14="http://schemas.microsoft.com/office/powerpoint/2010/main" val="4037753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EAA9-DE22-EB39-C000-6BE39DD6C265}"/>
              </a:ext>
            </a:extLst>
          </p:cNvPr>
          <p:cNvSpPr>
            <a:spLocks noGrp="1"/>
          </p:cNvSpPr>
          <p:nvPr>
            <p:ph type="title"/>
          </p:nvPr>
        </p:nvSpPr>
        <p:spPr>
          <a:xfrm>
            <a:off x="680884" y="0"/>
            <a:ext cx="10515600" cy="578772"/>
          </a:xfrm>
        </p:spPr>
        <p:txBody>
          <a:bodyPr>
            <a:normAutofit/>
          </a:bodyPr>
          <a:lstStyle/>
          <a:p>
            <a:pPr algn="ctr"/>
            <a:r>
              <a:rPr lang="en-IN" sz="2800" dirty="0">
                <a:latin typeface="Sitka Heading Semibold" pitchFamily="2" charset="0"/>
              </a:rPr>
              <a:t>Dashboard Module</a:t>
            </a:r>
          </a:p>
        </p:txBody>
      </p:sp>
      <p:sp>
        <p:nvSpPr>
          <p:cNvPr id="3" name="Content Placeholder 2">
            <a:extLst>
              <a:ext uri="{FF2B5EF4-FFF2-40B4-BE49-F238E27FC236}">
                <a16:creationId xmlns:a16="http://schemas.microsoft.com/office/drawing/2014/main" id="{0C1F9C3E-5499-A4CB-08DB-392FB7FB23AE}"/>
              </a:ext>
            </a:extLst>
          </p:cNvPr>
          <p:cNvSpPr>
            <a:spLocks noGrp="1"/>
          </p:cNvSpPr>
          <p:nvPr>
            <p:ph idx="1"/>
          </p:nvPr>
        </p:nvSpPr>
        <p:spPr>
          <a:xfrm>
            <a:off x="7574170" y="1541590"/>
            <a:ext cx="4532670" cy="2315169"/>
          </a:xfrm>
        </p:spPr>
        <p:txBody>
          <a:bodyPr>
            <a:normAutofit/>
          </a:bodyPr>
          <a:lstStyle/>
          <a:p>
            <a:pPr marL="0" indent="0">
              <a:buNone/>
            </a:pPr>
            <a:r>
              <a:rPr lang="en-US" sz="2200" b="1" dirty="0">
                <a:latin typeface="Times New Roman" panose="02020603050405020304" pitchFamily="18" charset="0"/>
                <a:cs typeface="Times New Roman" panose="02020603050405020304" pitchFamily="18" charset="0"/>
              </a:rPr>
              <a:t>Features</a:t>
            </a:r>
          </a:p>
          <a:p>
            <a:pPr marL="0" indent="0">
              <a:buNone/>
            </a:pPr>
            <a:r>
              <a:rPr lang="en-US" sz="1600" dirty="0">
                <a:latin typeface="Times New Roman" panose="02020603050405020304" pitchFamily="18" charset="0"/>
                <a:cs typeface="Times New Roman" panose="02020603050405020304" pitchFamily="18" charset="0"/>
              </a:rPr>
              <a:t>Displays total journal entries</a:t>
            </a:r>
          </a:p>
          <a:p>
            <a:pPr marL="0" indent="0">
              <a:buNone/>
            </a:pPr>
            <a:r>
              <a:rPr lang="en-US" sz="1600" dirty="0">
                <a:latin typeface="Times New Roman" panose="02020603050405020304" pitchFamily="18" charset="0"/>
                <a:cs typeface="Times New Roman" panose="02020603050405020304" pitchFamily="18" charset="0"/>
              </a:rPr>
              <a:t>Shows recent journal entry</a:t>
            </a:r>
          </a:p>
          <a:p>
            <a:pPr marL="0" indent="0">
              <a:buNone/>
            </a:pPr>
            <a:r>
              <a:rPr lang="en-US" sz="1600" dirty="0">
                <a:latin typeface="Times New Roman" panose="02020603050405020304" pitchFamily="18" charset="0"/>
                <a:cs typeface="Times New Roman" panose="02020603050405020304" pitchFamily="18" charset="0"/>
              </a:rPr>
              <a:t>Search entries by date</a:t>
            </a:r>
          </a:p>
          <a:p>
            <a:pPr marL="0" indent="0">
              <a:buNone/>
            </a:pPr>
            <a:r>
              <a:rPr lang="en-US" sz="1600" dirty="0">
                <a:latin typeface="Times New Roman" panose="02020603050405020304" pitchFamily="18" charset="0"/>
                <a:cs typeface="Times New Roman" panose="02020603050405020304" pitchFamily="18" charset="0"/>
              </a:rPr>
              <a:t>Quick access to Analytics</a:t>
            </a:r>
          </a:p>
          <a:p>
            <a:pPr marL="0" indent="0">
              <a:buNone/>
            </a:pPr>
            <a:r>
              <a:rPr lang="en-US" sz="1600" dirty="0">
                <a:latin typeface="Times New Roman" panose="02020603050405020304" pitchFamily="18" charset="0"/>
                <a:cs typeface="Times New Roman" panose="02020603050405020304" pitchFamily="18" charset="0"/>
              </a:rPr>
              <a:t>Easy navigation between modules</a:t>
            </a:r>
            <a:endParaRPr lang="en-IN" sz="1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9AFAE1C-C473-0632-F868-C702E1474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59" y="1209368"/>
            <a:ext cx="6525232" cy="3942737"/>
          </a:xfrm>
          <a:prstGeom prst="rect">
            <a:avLst/>
          </a:prstGeom>
        </p:spPr>
      </p:pic>
    </p:spTree>
    <p:extLst>
      <p:ext uri="{BB962C8B-B14F-4D97-AF65-F5344CB8AC3E}">
        <p14:creationId xmlns:p14="http://schemas.microsoft.com/office/powerpoint/2010/main" val="10702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FFB55-5625-9E5C-3312-4D6BAF5122F3}"/>
              </a:ext>
            </a:extLst>
          </p:cNvPr>
          <p:cNvSpPr>
            <a:spLocks noGrp="1"/>
          </p:cNvSpPr>
          <p:nvPr>
            <p:ph type="title"/>
          </p:nvPr>
        </p:nvSpPr>
        <p:spPr>
          <a:xfrm>
            <a:off x="838200" y="0"/>
            <a:ext cx="10515600" cy="490280"/>
          </a:xfrm>
        </p:spPr>
        <p:txBody>
          <a:bodyPr>
            <a:normAutofit/>
          </a:bodyPr>
          <a:lstStyle/>
          <a:p>
            <a:pPr algn="ctr"/>
            <a:r>
              <a:rPr lang="en-IN" sz="2800" dirty="0">
                <a:latin typeface="Sitka Heading Semibold" pitchFamily="2" charset="0"/>
              </a:rPr>
              <a:t>Journal Management Module</a:t>
            </a:r>
          </a:p>
        </p:txBody>
      </p:sp>
      <p:sp>
        <p:nvSpPr>
          <p:cNvPr id="3" name="Content Placeholder 2">
            <a:extLst>
              <a:ext uri="{FF2B5EF4-FFF2-40B4-BE49-F238E27FC236}">
                <a16:creationId xmlns:a16="http://schemas.microsoft.com/office/drawing/2014/main" id="{FF90DD17-0E76-4FAF-E5D5-5F3C658EC319}"/>
              </a:ext>
            </a:extLst>
          </p:cNvPr>
          <p:cNvSpPr>
            <a:spLocks noGrp="1"/>
          </p:cNvSpPr>
          <p:nvPr>
            <p:ph idx="1"/>
          </p:nvPr>
        </p:nvSpPr>
        <p:spPr>
          <a:xfrm>
            <a:off x="9626529" y="2413306"/>
            <a:ext cx="2653961" cy="2846952"/>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Features</a:t>
            </a:r>
          </a:p>
          <a:p>
            <a:pPr marL="0" indent="0">
              <a:buNone/>
            </a:pPr>
            <a:r>
              <a:rPr lang="en-IN" sz="1700" dirty="0">
                <a:latin typeface="Times New Roman" panose="02020603050405020304" pitchFamily="18" charset="0"/>
                <a:cs typeface="Times New Roman" panose="02020603050405020304" pitchFamily="18" charset="0"/>
              </a:rPr>
              <a:t>View all journal entries</a:t>
            </a:r>
          </a:p>
          <a:p>
            <a:pPr marL="0" indent="0">
              <a:buNone/>
            </a:pPr>
            <a:r>
              <a:rPr lang="en-IN" sz="1700" dirty="0">
                <a:latin typeface="Times New Roman" panose="02020603050405020304" pitchFamily="18" charset="0"/>
                <a:cs typeface="Times New Roman" panose="02020603050405020304" pitchFamily="18" charset="0"/>
              </a:rPr>
              <a:t>Add new journal entries</a:t>
            </a:r>
          </a:p>
          <a:p>
            <a:pPr marL="0" indent="0">
              <a:buNone/>
            </a:pPr>
            <a:r>
              <a:rPr lang="en-IN" sz="1700" dirty="0">
                <a:latin typeface="Times New Roman" panose="02020603050405020304" pitchFamily="18" charset="0"/>
                <a:cs typeface="Times New Roman" panose="02020603050405020304" pitchFamily="18" charset="0"/>
              </a:rPr>
              <a:t>Edit existing journal entries</a:t>
            </a:r>
          </a:p>
          <a:p>
            <a:pPr marL="0" indent="0">
              <a:buNone/>
            </a:pPr>
            <a:r>
              <a:rPr lang="en-IN" sz="1700" dirty="0">
                <a:latin typeface="Times New Roman" panose="02020603050405020304" pitchFamily="18" charset="0"/>
                <a:cs typeface="Times New Roman" panose="02020603050405020304" pitchFamily="18" charset="0"/>
              </a:rPr>
              <a:t>Delete journal entries</a:t>
            </a:r>
          </a:p>
        </p:txBody>
      </p:sp>
      <p:pic>
        <p:nvPicPr>
          <p:cNvPr id="5" name="Picture 4">
            <a:extLst>
              <a:ext uri="{FF2B5EF4-FFF2-40B4-BE49-F238E27FC236}">
                <a16:creationId xmlns:a16="http://schemas.microsoft.com/office/drawing/2014/main" id="{ADBB6AD1-9112-FA82-1EC9-5D4F408AE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820" y="724002"/>
            <a:ext cx="9488129" cy="2380738"/>
          </a:xfrm>
          <a:prstGeom prst="rect">
            <a:avLst/>
          </a:prstGeom>
        </p:spPr>
      </p:pic>
      <p:pic>
        <p:nvPicPr>
          <p:cNvPr id="7" name="Picture 6">
            <a:extLst>
              <a:ext uri="{FF2B5EF4-FFF2-40B4-BE49-F238E27FC236}">
                <a16:creationId xmlns:a16="http://schemas.microsoft.com/office/drawing/2014/main" id="{E5657DC1-A66C-47FB-0918-223A56BE4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221" y="2878598"/>
            <a:ext cx="4371062" cy="3638806"/>
          </a:xfrm>
          <a:prstGeom prst="rect">
            <a:avLst/>
          </a:prstGeom>
        </p:spPr>
      </p:pic>
      <p:pic>
        <p:nvPicPr>
          <p:cNvPr id="9" name="Picture 8">
            <a:extLst>
              <a:ext uri="{FF2B5EF4-FFF2-40B4-BE49-F238E27FC236}">
                <a16:creationId xmlns:a16="http://schemas.microsoft.com/office/drawing/2014/main" id="{BC4EAA00-9EE1-3F81-56A5-DCAC9F23A3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2012" y="2644877"/>
            <a:ext cx="4246788" cy="3872527"/>
          </a:xfrm>
          <a:prstGeom prst="rect">
            <a:avLst/>
          </a:prstGeom>
        </p:spPr>
      </p:pic>
    </p:spTree>
    <p:extLst>
      <p:ext uri="{BB962C8B-B14F-4D97-AF65-F5344CB8AC3E}">
        <p14:creationId xmlns:p14="http://schemas.microsoft.com/office/powerpoint/2010/main" val="1344273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7FF52-17D9-51F8-3C34-AD76BAFAD9CA}"/>
              </a:ext>
            </a:extLst>
          </p:cNvPr>
          <p:cNvSpPr>
            <a:spLocks noGrp="1"/>
          </p:cNvSpPr>
          <p:nvPr>
            <p:ph type="title"/>
          </p:nvPr>
        </p:nvSpPr>
        <p:spPr>
          <a:xfrm>
            <a:off x="907026" y="0"/>
            <a:ext cx="10515600" cy="627933"/>
          </a:xfrm>
        </p:spPr>
        <p:txBody>
          <a:bodyPr>
            <a:normAutofit/>
          </a:bodyPr>
          <a:lstStyle/>
          <a:p>
            <a:pPr algn="ctr"/>
            <a:r>
              <a:rPr lang="en-IN" sz="2800" dirty="0">
                <a:latin typeface="Sitka Heading Semibold" pitchFamily="2" charset="0"/>
              </a:rPr>
              <a:t>Analytics Module</a:t>
            </a:r>
          </a:p>
        </p:txBody>
      </p:sp>
      <p:sp>
        <p:nvSpPr>
          <p:cNvPr id="3" name="Content Placeholder 2">
            <a:extLst>
              <a:ext uri="{FF2B5EF4-FFF2-40B4-BE49-F238E27FC236}">
                <a16:creationId xmlns:a16="http://schemas.microsoft.com/office/drawing/2014/main" id="{B115BA1D-BD74-A119-E55C-961FE247F594}"/>
              </a:ext>
            </a:extLst>
          </p:cNvPr>
          <p:cNvSpPr>
            <a:spLocks noGrp="1"/>
          </p:cNvSpPr>
          <p:nvPr>
            <p:ph idx="1"/>
          </p:nvPr>
        </p:nvSpPr>
        <p:spPr>
          <a:xfrm>
            <a:off x="7700520" y="2015614"/>
            <a:ext cx="4237703" cy="2045108"/>
          </a:xfrm>
        </p:spPr>
        <p:txBody>
          <a:bodyPr>
            <a:normAutofit fontScale="92500" lnSpcReduction="10000"/>
          </a:bodyPr>
          <a:lstStyle/>
          <a:p>
            <a:pPr marL="0" indent="0">
              <a:buNone/>
            </a:pPr>
            <a:r>
              <a:rPr lang="en-IN" sz="2200" b="1" dirty="0">
                <a:latin typeface="Times New Roman" panose="02020603050405020304" pitchFamily="18" charset="0"/>
                <a:cs typeface="Times New Roman" panose="02020603050405020304" pitchFamily="18" charset="0"/>
              </a:rPr>
              <a:t>Features</a:t>
            </a:r>
          </a:p>
          <a:p>
            <a:pPr marL="0" indent="0">
              <a:buNone/>
            </a:pPr>
            <a:r>
              <a:rPr lang="en-IN" sz="1700" dirty="0">
                <a:latin typeface="Times New Roman" panose="02020603050405020304" pitchFamily="18" charset="0"/>
                <a:cs typeface="Times New Roman" panose="02020603050405020304" pitchFamily="18" charset="0"/>
              </a:rPr>
              <a:t>Displays mood-wise journal statistics</a:t>
            </a:r>
          </a:p>
          <a:p>
            <a:pPr marL="0" indent="0">
              <a:buNone/>
            </a:pPr>
            <a:r>
              <a:rPr lang="en-IN" sz="1700" dirty="0">
                <a:latin typeface="Times New Roman" panose="02020603050405020304" pitchFamily="18" charset="0"/>
                <a:cs typeface="Times New Roman" panose="02020603050405020304" pitchFamily="18" charset="0"/>
              </a:rPr>
              <a:t>Visualizes mood distribution</a:t>
            </a:r>
          </a:p>
          <a:p>
            <a:pPr marL="0" indent="0">
              <a:buNone/>
            </a:pPr>
            <a:r>
              <a:rPr lang="en-IN" sz="1700" dirty="0">
                <a:latin typeface="Times New Roman" panose="02020603050405020304" pitchFamily="18" charset="0"/>
                <a:cs typeface="Times New Roman" panose="02020603050405020304" pitchFamily="18" charset="0"/>
              </a:rPr>
              <a:t>Tracks Happy, Sad, and Neutral entries</a:t>
            </a:r>
          </a:p>
          <a:p>
            <a:pPr marL="0" indent="0">
              <a:buNone/>
            </a:pPr>
            <a:r>
              <a:rPr lang="en-IN" sz="1700" dirty="0">
                <a:latin typeface="Times New Roman" panose="02020603050405020304" pitchFamily="18" charset="0"/>
                <a:cs typeface="Times New Roman" panose="02020603050405020304" pitchFamily="18" charset="0"/>
              </a:rPr>
              <a:t>Provides an interactive analytics dashboard</a:t>
            </a:r>
          </a:p>
          <a:p>
            <a:pPr marL="0" indent="0">
              <a:buNone/>
            </a:pPr>
            <a:r>
              <a:rPr lang="en-IN" sz="1700" dirty="0">
                <a:latin typeface="Times New Roman" panose="02020603050405020304" pitchFamily="18" charset="0"/>
                <a:cs typeface="Times New Roman" panose="02020603050405020304" pitchFamily="18" charset="0"/>
              </a:rPr>
              <a:t>Supports data-driven self-reflection</a:t>
            </a:r>
          </a:p>
        </p:txBody>
      </p:sp>
      <p:pic>
        <p:nvPicPr>
          <p:cNvPr id="7" name="Picture 6">
            <a:extLst>
              <a:ext uri="{FF2B5EF4-FFF2-40B4-BE49-F238E27FC236}">
                <a16:creationId xmlns:a16="http://schemas.microsoft.com/office/drawing/2014/main" id="{FA05250E-C52A-00C1-B65C-D93C90221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564" y="1168707"/>
            <a:ext cx="6618971" cy="4219370"/>
          </a:xfrm>
          <a:prstGeom prst="rect">
            <a:avLst/>
          </a:prstGeom>
        </p:spPr>
      </p:pic>
    </p:spTree>
    <p:extLst>
      <p:ext uri="{BB962C8B-B14F-4D97-AF65-F5344CB8AC3E}">
        <p14:creationId xmlns:p14="http://schemas.microsoft.com/office/powerpoint/2010/main" val="2990350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C764E-580A-E3BC-78E8-ED61C75E5FDE}"/>
              </a:ext>
            </a:extLst>
          </p:cNvPr>
          <p:cNvSpPr>
            <a:spLocks noGrp="1"/>
          </p:cNvSpPr>
          <p:nvPr>
            <p:ph type="title"/>
          </p:nvPr>
        </p:nvSpPr>
        <p:spPr>
          <a:xfrm>
            <a:off x="1025013" y="-77325"/>
            <a:ext cx="10515600" cy="657430"/>
          </a:xfrm>
        </p:spPr>
        <p:txBody>
          <a:bodyPr>
            <a:normAutofit/>
          </a:bodyPr>
          <a:lstStyle/>
          <a:p>
            <a:pPr algn="ctr"/>
            <a:r>
              <a:rPr lang="en-IN" sz="2800" dirty="0">
                <a:latin typeface="Sitka Heading Semibold" pitchFamily="2" charset="0"/>
              </a:rPr>
              <a:t>Database Integration (MySQL)</a:t>
            </a:r>
          </a:p>
        </p:txBody>
      </p:sp>
      <p:pic>
        <p:nvPicPr>
          <p:cNvPr id="5" name="Picture 4">
            <a:extLst>
              <a:ext uri="{FF2B5EF4-FFF2-40B4-BE49-F238E27FC236}">
                <a16:creationId xmlns:a16="http://schemas.microsoft.com/office/drawing/2014/main" id="{5B0E7A39-9868-A5CA-63AD-96471F5532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013" y="1410313"/>
            <a:ext cx="2019475" cy="3215919"/>
          </a:xfrm>
          <a:prstGeom prst="rect">
            <a:avLst/>
          </a:prstGeom>
        </p:spPr>
      </p:pic>
      <p:sp>
        <p:nvSpPr>
          <p:cNvPr id="7" name="TextBox 6">
            <a:extLst>
              <a:ext uri="{FF2B5EF4-FFF2-40B4-BE49-F238E27FC236}">
                <a16:creationId xmlns:a16="http://schemas.microsoft.com/office/drawing/2014/main" id="{AA4FD6E1-E138-BF1F-66A9-8E7DC4FFBC32}"/>
              </a:ext>
            </a:extLst>
          </p:cNvPr>
          <p:cNvSpPr txBox="1"/>
          <p:nvPr/>
        </p:nvSpPr>
        <p:spPr>
          <a:xfrm>
            <a:off x="726532" y="878895"/>
            <a:ext cx="2900517" cy="338554"/>
          </a:xfrm>
          <a:prstGeom prst="rect">
            <a:avLst/>
          </a:prstGeom>
          <a:noFill/>
        </p:spPr>
        <p:txBody>
          <a:bodyPr wrap="square">
            <a:spAutoFit/>
          </a:bodyPr>
          <a:lstStyle/>
          <a:p>
            <a:r>
              <a:rPr lang="en-IN" sz="1600" dirty="0">
                <a:latin typeface="Arial Rounded MT Bold" panose="020F0704030504030204" pitchFamily="34" charset="0"/>
              </a:rPr>
              <a:t>Database Structure</a:t>
            </a:r>
          </a:p>
        </p:txBody>
      </p:sp>
      <p:pic>
        <p:nvPicPr>
          <p:cNvPr id="9" name="Picture 8">
            <a:extLst>
              <a:ext uri="{FF2B5EF4-FFF2-40B4-BE49-F238E27FC236}">
                <a16:creationId xmlns:a16="http://schemas.microsoft.com/office/drawing/2014/main" id="{CB627785-D8AB-9953-E07C-F2638EDCA1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9290" y="1591395"/>
            <a:ext cx="4942642" cy="2514319"/>
          </a:xfrm>
          <a:prstGeom prst="rect">
            <a:avLst/>
          </a:prstGeom>
        </p:spPr>
      </p:pic>
      <p:sp>
        <p:nvSpPr>
          <p:cNvPr id="11" name="TextBox 10">
            <a:extLst>
              <a:ext uri="{FF2B5EF4-FFF2-40B4-BE49-F238E27FC236}">
                <a16:creationId xmlns:a16="http://schemas.microsoft.com/office/drawing/2014/main" id="{4513FABE-472B-A934-FD47-039980011DBD}"/>
              </a:ext>
            </a:extLst>
          </p:cNvPr>
          <p:cNvSpPr txBox="1"/>
          <p:nvPr/>
        </p:nvSpPr>
        <p:spPr>
          <a:xfrm>
            <a:off x="8206949" y="954933"/>
            <a:ext cx="2019475" cy="338554"/>
          </a:xfrm>
          <a:prstGeom prst="rect">
            <a:avLst/>
          </a:prstGeom>
          <a:noFill/>
        </p:spPr>
        <p:txBody>
          <a:bodyPr wrap="square">
            <a:spAutoFit/>
          </a:bodyPr>
          <a:lstStyle/>
          <a:p>
            <a:r>
              <a:rPr lang="en-IN" sz="1600" dirty="0">
                <a:latin typeface="Arial Rounded MT Bold" panose="020F0704030504030204" pitchFamily="34" charset="0"/>
              </a:rPr>
              <a:t>User Table</a:t>
            </a:r>
          </a:p>
        </p:txBody>
      </p:sp>
      <p:pic>
        <p:nvPicPr>
          <p:cNvPr id="13" name="Picture 12">
            <a:extLst>
              <a:ext uri="{FF2B5EF4-FFF2-40B4-BE49-F238E27FC236}">
                <a16:creationId xmlns:a16="http://schemas.microsoft.com/office/drawing/2014/main" id="{F4124A65-EA1A-5CE5-1797-291F5F8B44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02943" y="4819096"/>
            <a:ext cx="6386113" cy="1333616"/>
          </a:xfrm>
          <a:prstGeom prst="rect">
            <a:avLst/>
          </a:prstGeom>
        </p:spPr>
      </p:pic>
      <p:sp>
        <p:nvSpPr>
          <p:cNvPr id="15" name="TextBox 14">
            <a:extLst>
              <a:ext uri="{FF2B5EF4-FFF2-40B4-BE49-F238E27FC236}">
                <a16:creationId xmlns:a16="http://schemas.microsoft.com/office/drawing/2014/main" id="{711E9E01-6113-8227-74FB-2DAC11AE75C2}"/>
              </a:ext>
            </a:extLst>
          </p:cNvPr>
          <p:cNvSpPr txBox="1"/>
          <p:nvPr/>
        </p:nvSpPr>
        <p:spPr>
          <a:xfrm>
            <a:off x="4866969" y="4298578"/>
            <a:ext cx="2222089" cy="338554"/>
          </a:xfrm>
          <a:prstGeom prst="rect">
            <a:avLst/>
          </a:prstGeom>
          <a:noFill/>
        </p:spPr>
        <p:txBody>
          <a:bodyPr wrap="square">
            <a:spAutoFit/>
          </a:bodyPr>
          <a:lstStyle/>
          <a:p>
            <a:r>
              <a:rPr lang="en-IN" sz="1600" dirty="0">
                <a:latin typeface="Arial Rounded MT Bold" panose="020F0704030504030204" pitchFamily="34" charset="0"/>
              </a:rPr>
              <a:t>Journal Entry Table</a:t>
            </a:r>
          </a:p>
        </p:txBody>
      </p:sp>
    </p:spTree>
    <p:extLst>
      <p:ext uri="{BB962C8B-B14F-4D97-AF65-F5344CB8AC3E}">
        <p14:creationId xmlns:p14="http://schemas.microsoft.com/office/powerpoint/2010/main" val="1076068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FEC2E87-3922-5E7A-1E20-5335E41CD2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987" y="147484"/>
            <a:ext cx="11965858" cy="6577781"/>
          </a:xfrm>
          <a:prstGeom prst="rect">
            <a:avLst/>
          </a:prstGeom>
        </p:spPr>
      </p:pic>
    </p:spTree>
    <p:extLst>
      <p:ext uri="{BB962C8B-B14F-4D97-AF65-F5344CB8AC3E}">
        <p14:creationId xmlns:p14="http://schemas.microsoft.com/office/powerpoint/2010/main" val="3768090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F59F-97D6-396A-AF96-C6181B32299A}"/>
              </a:ext>
            </a:extLst>
          </p:cNvPr>
          <p:cNvSpPr>
            <a:spLocks noGrp="1"/>
          </p:cNvSpPr>
          <p:nvPr>
            <p:ph type="title"/>
          </p:nvPr>
        </p:nvSpPr>
        <p:spPr>
          <a:xfrm>
            <a:off x="1025013" y="2321743"/>
            <a:ext cx="10515600" cy="1325563"/>
          </a:xfrm>
        </p:spPr>
        <p:txBody>
          <a:bodyPr>
            <a:normAutofit/>
          </a:bodyPr>
          <a:lstStyle/>
          <a:p>
            <a:pPr algn="ctr"/>
            <a:r>
              <a:rPr lang="en-IN" sz="6000" dirty="0">
                <a:latin typeface="Sitka Heading Semibold" pitchFamily="2" charset="0"/>
              </a:rPr>
              <a:t>Thank You</a:t>
            </a:r>
          </a:p>
        </p:txBody>
      </p:sp>
    </p:spTree>
    <p:extLst>
      <p:ext uri="{BB962C8B-B14F-4D97-AF65-F5344CB8AC3E}">
        <p14:creationId xmlns:p14="http://schemas.microsoft.com/office/powerpoint/2010/main" val="1608388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TotalTime>
  <Words>207</Words>
  <Application>Microsoft Office PowerPoint</Application>
  <PresentationFormat>Widescreen</PresentationFormat>
  <Paragraphs>46</Paragraphs>
  <Slides>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Arial Rounded MT Bold</vt:lpstr>
      <vt:lpstr>Calibri</vt:lpstr>
      <vt:lpstr>Calibri Light</vt:lpstr>
      <vt:lpstr>Centaur</vt:lpstr>
      <vt:lpstr>Gabriola</vt:lpstr>
      <vt:lpstr>Sitka Heading Semibold</vt:lpstr>
      <vt:lpstr>Times New Roman</vt:lpstr>
      <vt:lpstr>Office Theme</vt:lpstr>
      <vt:lpstr>Personal Journal Analytics Web Application  Your stories, your moods, your insights—all in one place. </vt:lpstr>
      <vt:lpstr>Project Overview</vt:lpstr>
      <vt:lpstr>Authentication Module</vt:lpstr>
      <vt:lpstr>Dashboard Module</vt:lpstr>
      <vt:lpstr>Journal Management Module</vt:lpstr>
      <vt:lpstr>Analytics Module</vt:lpstr>
      <vt:lpstr>Database Integration (MySQL)</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hasinicheyyeti02@gmail.com</dc:creator>
  <cp:lastModifiedBy>hasinicheyyeti02@gmail.com</cp:lastModifiedBy>
  <cp:revision>6</cp:revision>
  <dcterms:created xsi:type="dcterms:W3CDTF">2026-07-24T10:14:34Z</dcterms:created>
  <dcterms:modified xsi:type="dcterms:W3CDTF">2026-08-12T07:21:18Z</dcterms:modified>
</cp:coreProperties>
</file>